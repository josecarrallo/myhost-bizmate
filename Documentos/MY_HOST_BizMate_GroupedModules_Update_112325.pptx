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64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CD22E-2269-419F-9E81-016EA035D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5349" y="1295231"/>
            <a:ext cx="4421383" cy="3807446"/>
          </a:xfrm>
        </p:spPr>
        <p:txBody>
          <a:bodyPr anchor="b">
            <a:normAutofit/>
          </a:bodyPr>
          <a:lstStyle/>
          <a:p>
            <a:pPr algn="l"/>
            <a:r>
              <a:rPr lang="en-US" sz="5700"/>
              <a:t>MY HOST BizMate – Modern UI Overview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607D34-E2A9-4595-9DB2-5472E077C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0311" y="0"/>
            <a:ext cx="3663689" cy="6858000"/>
          </a:xfrm>
          <a:custGeom>
            <a:avLst/>
            <a:gdLst>
              <a:gd name="connsiteX0" fmla="*/ 1097203 w 4884918"/>
              <a:gd name="connsiteY0" fmla="*/ 0 h 6858000"/>
              <a:gd name="connsiteX1" fmla="*/ 1154155 w 4884918"/>
              <a:gd name="connsiteY1" fmla="*/ 0 h 6858000"/>
              <a:gd name="connsiteX2" fmla="*/ 972305 w 4884918"/>
              <a:gd name="connsiteY2" fmla="*/ 343212 h 6858000"/>
              <a:gd name="connsiteX3" fmla="*/ 780524 w 4884918"/>
              <a:gd name="connsiteY3" fmla="*/ 761067 h 6858000"/>
              <a:gd name="connsiteX4" fmla="*/ 737045 w 4884918"/>
              <a:gd name="connsiteY4" fmla="*/ 865164 h 6858000"/>
              <a:gd name="connsiteX5" fmla="*/ 762322 w 4884918"/>
              <a:gd name="connsiteY5" fmla="*/ 830676 h 6858000"/>
              <a:gd name="connsiteX6" fmla="*/ 1118805 w 4884918"/>
              <a:gd name="connsiteY6" fmla="*/ 160440 h 6858000"/>
              <a:gd name="connsiteX7" fmla="*/ 1221640 w 4884918"/>
              <a:gd name="connsiteY7" fmla="*/ 0 h 6858000"/>
              <a:gd name="connsiteX8" fmla="*/ 4884918 w 4884918"/>
              <a:gd name="connsiteY8" fmla="*/ 0 h 6858000"/>
              <a:gd name="connsiteX9" fmla="*/ 4884918 w 4884918"/>
              <a:gd name="connsiteY9" fmla="*/ 6857999 h 6858000"/>
              <a:gd name="connsiteX10" fmla="*/ 4884918 w 4884918"/>
              <a:gd name="connsiteY10" fmla="*/ 6858000 h 6858000"/>
              <a:gd name="connsiteX11" fmla="*/ 704817 w 4884918"/>
              <a:gd name="connsiteY11" fmla="*/ 6858000 h 6858000"/>
              <a:gd name="connsiteX12" fmla="*/ 618717 w 4884918"/>
              <a:gd name="connsiteY12" fmla="*/ 6672538 h 6858000"/>
              <a:gd name="connsiteX13" fmla="*/ 309324 w 4884918"/>
              <a:gd name="connsiteY13" fmla="*/ 5833618 h 6858000"/>
              <a:gd name="connsiteX14" fmla="*/ 209850 w 4884918"/>
              <a:gd name="connsiteY14" fmla="*/ 5484180 h 6858000"/>
              <a:gd name="connsiteX15" fmla="*/ 211619 w 4884918"/>
              <a:gd name="connsiteY15" fmla="*/ 5517653 h 6858000"/>
              <a:gd name="connsiteX16" fmla="*/ 361778 w 4884918"/>
              <a:gd name="connsiteY16" fmla="*/ 6145524 h 6858000"/>
              <a:gd name="connsiteX17" fmla="*/ 591356 w 4884918"/>
              <a:gd name="connsiteY17" fmla="*/ 6843306 h 6858000"/>
              <a:gd name="connsiteX18" fmla="*/ 597415 w 4884918"/>
              <a:gd name="connsiteY18" fmla="*/ 6858000 h 6858000"/>
              <a:gd name="connsiteX19" fmla="*/ 545224 w 4884918"/>
              <a:gd name="connsiteY19" fmla="*/ 6858000 h 6858000"/>
              <a:gd name="connsiteX20" fmla="*/ 533604 w 4884918"/>
              <a:gd name="connsiteY20" fmla="*/ 6830072 h 6858000"/>
              <a:gd name="connsiteX21" fmla="*/ 169657 w 4884918"/>
              <a:gd name="connsiteY21" fmla="*/ 5556577 h 6858000"/>
              <a:gd name="connsiteX22" fmla="*/ 12169 w 4884918"/>
              <a:gd name="connsiteY22" fmla="*/ 4362835 h 6858000"/>
              <a:gd name="connsiteX23" fmla="*/ 46168 w 4884918"/>
              <a:gd name="connsiteY23" fmla="*/ 3338487 h 6858000"/>
              <a:gd name="connsiteX24" fmla="*/ 490574 w 4884918"/>
              <a:gd name="connsiteY24" fmla="*/ 1381078 h 6858000"/>
              <a:gd name="connsiteX25" fmla="*/ 984701 w 4884918"/>
              <a:gd name="connsiteY25" fmla="*/ 2082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884918" h="6858000">
                <a:moveTo>
                  <a:pt x="1097203" y="0"/>
                </a:moveTo>
                <a:lnTo>
                  <a:pt x="1154155" y="0"/>
                </a:lnTo>
                <a:lnTo>
                  <a:pt x="972305" y="343212"/>
                </a:lnTo>
                <a:cubicBezTo>
                  <a:pt x="904739" y="480367"/>
                  <a:pt x="840941" y="619727"/>
                  <a:pt x="780524" y="761067"/>
                </a:cubicBezTo>
                <a:cubicBezTo>
                  <a:pt x="765737" y="795681"/>
                  <a:pt x="751579" y="830550"/>
                  <a:pt x="737045" y="865164"/>
                </a:cubicBezTo>
                <a:cubicBezTo>
                  <a:pt x="748306" y="856057"/>
                  <a:pt x="757014" y="844174"/>
                  <a:pt x="762322" y="830676"/>
                </a:cubicBezTo>
                <a:cubicBezTo>
                  <a:pt x="870201" y="600612"/>
                  <a:pt x="988539" y="376889"/>
                  <a:pt x="1118805" y="160440"/>
                </a:cubicBezTo>
                <a:lnTo>
                  <a:pt x="1221640" y="0"/>
                </a:lnTo>
                <a:lnTo>
                  <a:pt x="4884918" y="0"/>
                </a:lnTo>
                <a:lnTo>
                  <a:pt x="4884918" y="6857999"/>
                </a:lnTo>
                <a:lnTo>
                  <a:pt x="4884918" y="6858000"/>
                </a:lnTo>
                <a:lnTo>
                  <a:pt x="704817" y="6858000"/>
                </a:lnTo>
                <a:lnTo>
                  <a:pt x="618717" y="6672538"/>
                </a:lnTo>
                <a:cubicBezTo>
                  <a:pt x="501618" y="6400947"/>
                  <a:pt x="398622" y="6121213"/>
                  <a:pt x="309324" y="5833618"/>
                </a:cubicBezTo>
                <a:cubicBezTo>
                  <a:pt x="275071" y="5723183"/>
                  <a:pt x="246125" y="5611225"/>
                  <a:pt x="209850" y="5484180"/>
                </a:cubicBezTo>
                <a:cubicBezTo>
                  <a:pt x="209859" y="5495363"/>
                  <a:pt x="210448" y="5506534"/>
                  <a:pt x="211619" y="5517653"/>
                </a:cubicBezTo>
                <a:cubicBezTo>
                  <a:pt x="261166" y="5727113"/>
                  <a:pt x="303888" y="5938474"/>
                  <a:pt x="361778" y="6145524"/>
                </a:cubicBezTo>
                <a:cubicBezTo>
                  <a:pt x="428356" y="6383258"/>
                  <a:pt x="504422" y="6616111"/>
                  <a:pt x="591356" y="6843306"/>
                </a:cubicBezTo>
                <a:lnTo>
                  <a:pt x="597415" y="6858000"/>
                </a:lnTo>
                <a:lnTo>
                  <a:pt x="545224" y="6858000"/>
                </a:lnTo>
                <a:lnTo>
                  <a:pt x="533604" y="6830072"/>
                </a:lnTo>
                <a:cubicBezTo>
                  <a:pt x="376384" y="6416985"/>
                  <a:pt x="257344" y="5991917"/>
                  <a:pt x="169657" y="5556577"/>
                </a:cubicBezTo>
                <a:cubicBezTo>
                  <a:pt x="90154" y="5162256"/>
                  <a:pt x="43261" y="4763750"/>
                  <a:pt x="12169" y="4362835"/>
                </a:cubicBezTo>
                <a:cubicBezTo>
                  <a:pt x="-14122" y="4019865"/>
                  <a:pt x="4458" y="3679429"/>
                  <a:pt x="46168" y="3338487"/>
                </a:cubicBezTo>
                <a:cubicBezTo>
                  <a:pt x="125796" y="2672248"/>
                  <a:pt x="274744" y="2016203"/>
                  <a:pt x="490574" y="1381078"/>
                </a:cubicBezTo>
                <a:cubicBezTo>
                  <a:pt x="629230" y="976550"/>
                  <a:pt x="791584" y="584320"/>
                  <a:pt x="984701" y="208241"/>
                </a:cubicBez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7404" y="1122363"/>
            <a:ext cx="2417946" cy="3980314"/>
          </a:xfrm>
        </p:spPr>
        <p:txBody>
          <a:bodyPr anchor="b">
            <a:normAutofit/>
          </a:bodyPr>
          <a:lstStyle/>
          <a:p>
            <a:pPr algn="l"/>
            <a:r>
              <a:rPr lang="fr-FR">
                <a:solidFill>
                  <a:srgbClr val="FFFFFF"/>
                </a:solidFill>
              </a:rPr>
              <a:t>Core Modules • Automations • AI • Cultural Intelligence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7635" y="5439978"/>
            <a:ext cx="4423410" cy="18288"/>
          </a:xfrm>
          <a:custGeom>
            <a:avLst/>
            <a:gdLst>
              <a:gd name="connsiteX0" fmla="*/ 0 w 4423410"/>
              <a:gd name="connsiteY0" fmla="*/ 0 h 18288"/>
              <a:gd name="connsiteX1" fmla="*/ 587682 w 4423410"/>
              <a:gd name="connsiteY1" fmla="*/ 0 h 18288"/>
              <a:gd name="connsiteX2" fmla="*/ 1086895 w 4423410"/>
              <a:gd name="connsiteY2" fmla="*/ 0 h 18288"/>
              <a:gd name="connsiteX3" fmla="*/ 1630343 w 4423410"/>
              <a:gd name="connsiteY3" fmla="*/ 0 h 18288"/>
              <a:gd name="connsiteX4" fmla="*/ 2306492 w 4423410"/>
              <a:gd name="connsiteY4" fmla="*/ 0 h 18288"/>
              <a:gd name="connsiteX5" fmla="*/ 2894174 w 4423410"/>
              <a:gd name="connsiteY5" fmla="*/ 0 h 18288"/>
              <a:gd name="connsiteX6" fmla="*/ 3437621 w 4423410"/>
              <a:gd name="connsiteY6" fmla="*/ 0 h 18288"/>
              <a:gd name="connsiteX7" fmla="*/ 4423410 w 4423410"/>
              <a:gd name="connsiteY7" fmla="*/ 0 h 18288"/>
              <a:gd name="connsiteX8" fmla="*/ 4423410 w 4423410"/>
              <a:gd name="connsiteY8" fmla="*/ 18288 h 18288"/>
              <a:gd name="connsiteX9" fmla="*/ 3791494 w 4423410"/>
              <a:gd name="connsiteY9" fmla="*/ 18288 h 18288"/>
              <a:gd name="connsiteX10" fmla="*/ 3248047 w 4423410"/>
              <a:gd name="connsiteY10" fmla="*/ 18288 h 18288"/>
              <a:gd name="connsiteX11" fmla="*/ 2527663 w 4423410"/>
              <a:gd name="connsiteY11" fmla="*/ 18288 h 18288"/>
              <a:gd name="connsiteX12" fmla="*/ 1939981 w 4423410"/>
              <a:gd name="connsiteY12" fmla="*/ 18288 h 18288"/>
              <a:gd name="connsiteX13" fmla="*/ 1440768 w 4423410"/>
              <a:gd name="connsiteY13" fmla="*/ 18288 h 18288"/>
              <a:gd name="connsiteX14" fmla="*/ 764618 w 4423410"/>
              <a:gd name="connsiteY14" fmla="*/ 18288 h 18288"/>
              <a:gd name="connsiteX15" fmla="*/ 0 w 4423410"/>
              <a:gd name="connsiteY15" fmla="*/ 18288 h 18288"/>
              <a:gd name="connsiteX16" fmla="*/ 0 w 442341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23410" h="18288" fill="none" extrusionOk="0">
                <a:moveTo>
                  <a:pt x="0" y="0"/>
                </a:moveTo>
                <a:cubicBezTo>
                  <a:pt x="206860" y="27329"/>
                  <a:pt x="325136" y="13221"/>
                  <a:pt x="587682" y="0"/>
                </a:cubicBezTo>
                <a:cubicBezTo>
                  <a:pt x="850228" y="-13221"/>
                  <a:pt x="962246" y="-2888"/>
                  <a:pt x="1086895" y="0"/>
                </a:cubicBezTo>
                <a:cubicBezTo>
                  <a:pt x="1211544" y="2888"/>
                  <a:pt x="1406859" y="-13966"/>
                  <a:pt x="1630343" y="0"/>
                </a:cubicBezTo>
                <a:cubicBezTo>
                  <a:pt x="1853827" y="13966"/>
                  <a:pt x="2051467" y="27053"/>
                  <a:pt x="2306492" y="0"/>
                </a:cubicBezTo>
                <a:cubicBezTo>
                  <a:pt x="2561517" y="-27053"/>
                  <a:pt x="2684134" y="18321"/>
                  <a:pt x="2894174" y="0"/>
                </a:cubicBezTo>
                <a:cubicBezTo>
                  <a:pt x="3104214" y="-18321"/>
                  <a:pt x="3319501" y="21782"/>
                  <a:pt x="3437621" y="0"/>
                </a:cubicBezTo>
                <a:cubicBezTo>
                  <a:pt x="3555741" y="-21782"/>
                  <a:pt x="3955621" y="40349"/>
                  <a:pt x="4423410" y="0"/>
                </a:cubicBezTo>
                <a:cubicBezTo>
                  <a:pt x="4423808" y="7429"/>
                  <a:pt x="4423390" y="10822"/>
                  <a:pt x="4423410" y="18288"/>
                </a:cubicBezTo>
                <a:cubicBezTo>
                  <a:pt x="4158738" y="10368"/>
                  <a:pt x="3977885" y="11085"/>
                  <a:pt x="3791494" y="18288"/>
                </a:cubicBezTo>
                <a:cubicBezTo>
                  <a:pt x="3605103" y="25491"/>
                  <a:pt x="3482000" y="25303"/>
                  <a:pt x="3248047" y="18288"/>
                </a:cubicBezTo>
                <a:cubicBezTo>
                  <a:pt x="3014094" y="11273"/>
                  <a:pt x="2745120" y="31445"/>
                  <a:pt x="2527663" y="18288"/>
                </a:cubicBezTo>
                <a:cubicBezTo>
                  <a:pt x="2310206" y="5131"/>
                  <a:pt x="2116106" y="38833"/>
                  <a:pt x="1939981" y="18288"/>
                </a:cubicBezTo>
                <a:cubicBezTo>
                  <a:pt x="1763856" y="-2257"/>
                  <a:pt x="1676275" y="10875"/>
                  <a:pt x="1440768" y="18288"/>
                </a:cubicBezTo>
                <a:cubicBezTo>
                  <a:pt x="1205261" y="25701"/>
                  <a:pt x="1101073" y="-9571"/>
                  <a:pt x="764618" y="18288"/>
                </a:cubicBezTo>
                <a:cubicBezTo>
                  <a:pt x="428163" y="46147"/>
                  <a:pt x="180709" y="49883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23410" h="18288" stroke="0" extrusionOk="0">
                <a:moveTo>
                  <a:pt x="0" y="0"/>
                </a:moveTo>
                <a:cubicBezTo>
                  <a:pt x="151450" y="-3182"/>
                  <a:pt x="330751" y="1975"/>
                  <a:pt x="587682" y="0"/>
                </a:cubicBezTo>
                <a:cubicBezTo>
                  <a:pt x="844613" y="-1975"/>
                  <a:pt x="925389" y="21373"/>
                  <a:pt x="1086895" y="0"/>
                </a:cubicBezTo>
                <a:cubicBezTo>
                  <a:pt x="1248401" y="-21373"/>
                  <a:pt x="1627559" y="-29275"/>
                  <a:pt x="1807279" y="0"/>
                </a:cubicBezTo>
                <a:cubicBezTo>
                  <a:pt x="1986999" y="29275"/>
                  <a:pt x="2127620" y="23385"/>
                  <a:pt x="2394961" y="0"/>
                </a:cubicBezTo>
                <a:cubicBezTo>
                  <a:pt x="2662302" y="-23385"/>
                  <a:pt x="2729719" y="-18629"/>
                  <a:pt x="2982642" y="0"/>
                </a:cubicBezTo>
                <a:cubicBezTo>
                  <a:pt x="3235565" y="18629"/>
                  <a:pt x="3498854" y="22673"/>
                  <a:pt x="3703026" y="0"/>
                </a:cubicBezTo>
                <a:cubicBezTo>
                  <a:pt x="3907198" y="-22673"/>
                  <a:pt x="4203160" y="-11253"/>
                  <a:pt x="4423410" y="0"/>
                </a:cubicBezTo>
                <a:cubicBezTo>
                  <a:pt x="4422524" y="5429"/>
                  <a:pt x="4424231" y="14046"/>
                  <a:pt x="4423410" y="18288"/>
                </a:cubicBezTo>
                <a:cubicBezTo>
                  <a:pt x="4232181" y="31060"/>
                  <a:pt x="4039656" y="18565"/>
                  <a:pt x="3879962" y="18288"/>
                </a:cubicBezTo>
                <a:cubicBezTo>
                  <a:pt x="3720268" y="18011"/>
                  <a:pt x="3410543" y="416"/>
                  <a:pt x="3248047" y="18288"/>
                </a:cubicBezTo>
                <a:cubicBezTo>
                  <a:pt x="3085551" y="36160"/>
                  <a:pt x="2859988" y="2443"/>
                  <a:pt x="2616131" y="18288"/>
                </a:cubicBezTo>
                <a:cubicBezTo>
                  <a:pt x="2372274" y="34133"/>
                  <a:pt x="2239006" y="15743"/>
                  <a:pt x="2028449" y="18288"/>
                </a:cubicBezTo>
                <a:cubicBezTo>
                  <a:pt x="1817892" y="20833"/>
                  <a:pt x="1524351" y="-9689"/>
                  <a:pt x="1308066" y="18288"/>
                </a:cubicBezTo>
                <a:cubicBezTo>
                  <a:pt x="1091781" y="46265"/>
                  <a:pt x="878642" y="35229"/>
                  <a:pt x="587682" y="18288"/>
                </a:cubicBezTo>
                <a:cubicBezTo>
                  <a:pt x="296722" y="1347"/>
                  <a:pt x="210783" y="24166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ketch line 2">
            <a:extLst>
              <a:ext uri="{FF2B5EF4-FFF2-40B4-BE49-F238E27FC236}">
                <a16:creationId xmlns:a16="http://schemas.microsoft.com/office/drawing/2014/main" id="{8FFD9892-EDE5-4886-A313-66099DA8C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87989" y="5626353"/>
            <a:ext cx="2609715" cy="18288"/>
          </a:xfrm>
          <a:custGeom>
            <a:avLst/>
            <a:gdLst>
              <a:gd name="connsiteX0" fmla="*/ 0 w 2609715"/>
              <a:gd name="connsiteY0" fmla="*/ 0 h 18288"/>
              <a:gd name="connsiteX1" fmla="*/ 626332 w 2609715"/>
              <a:gd name="connsiteY1" fmla="*/ 0 h 18288"/>
              <a:gd name="connsiteX2" fmla="*/ 1278760 w 2609715"/>
              <a:gd name="connsiteY2" fmla="*/ 0 h 18288"/>
              <a:gd name="connsiteX3" fmla="*/ 1931189 w 2609715"/>
              <a:gd name="connsiteY3" fmla="*/ 0 h 18288"/>
              <a:gd name="connsiteX4" fmla="*/ 2609715 w 2609715"/>
              <a:gd name="connsiteY4" fmla="*/ 0 h 18288"/>
              <a:gd name="connsiteX5" fmla="*/ 2609715 w 2609715"/>
              <a:gd name="connsiteY5" fmla="*/ 18288 h 18288"/>
              <a:gd name="connsiteX6" fmla="*/ 1957286 w 2609715"/>
              <a:gd name="connsiteY6" fmla="*/ 18288 h 18288"/>
              <a:gd name="connsiteX7" fmla="*/ 1357052 w 2609715"/>
              <a:gd name="connsiteY7" fmla="*/ 18288 h 18288"/>
              <a:gd name="connsiteX8" fmla="*/ 756817 w 2609715"/>
              <a:gd name="connsiteY8" fmla="*/ 18288 h 18288"/>
              <a:gd name="connsiteX9" fmla="*/ 0 w 2609715"/>
              <a:gd name="connsiteY9" fmla="*/ 18288 h 18288"/>
              <a:gd name="connsiteX10" fmla="*/ 0 w 2609715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9715" h="18288" fill="none" extrusionOk="0">
                <a:moveTo>
                  <a:pt x="0" y="0"/>
                </a:moveTo>
                <a:cubicBezTo>
                  <a:pt x="283276" y="6411"/>
                  <a:pt x="352876" y="-4376"/>
                  <a:pt x="626332" y="0"/>
                </a:cubicBezTo>
                <a:cubicBezTo>
                  <a:pt x="899788" y="4376"/>
                  <a:pt x="984795" y="8792"/>
                  <a:pt x="1278760" y="0"/>
                </a:cubicBezTo>
                <a:cubicBezTo>
                  <a:pt x="1572725" y="-8792"/>
                  <a:pt x="1637724" y="7668"/>
                  <a:pt x="1931189" y="0"/>
                </a:cubicBezTo>
                <a:cubicBezTo>
                  <a:pt x="2224654" y="-7668"/>
                  <a:pt x="2304540" y="-27069"/>
                  <a:pt x="2609715" y="0"/>
                </a:cubicBezTo>
                <a:cubicBezTo>
                  <a:pt x="2609561" y="8655"/>
                  <a:pt x="2608831" y="9975"/>
                  <a:pt x="2609715" y="18288"/>
                </a:cubicBezTo>
                <a:cubicBezTo>
                  <a:pt x="2465462" y="44785"/>
                  <a:pt x="2255189" y="1376"/>
                  <a:pt x="1957286" y="18288"/>
                </a:cubicBezTo>
                <a:cubicBezTo>
                  <a:pt x="1659383" y="35200"/>
                  <a:pt x="1562734" y="6078"/>
                  <a:pt x="1357052" y="18288"/>
                </a:cubicBezTo>
                <a:cubicBezTo>
                  <a:pt x="1151370" y="30498"/>
                  <a:pt x="893393" y="36847"/>
                  <a:pt x="756817" y="18288"/>
                </a:cubicBezTo>
                <a:cubicBezTo>
                  <a:pt x="620241" y="-271"/>
                  <a:pt x="309020" y="-1293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609715" h="18288" stroke="0" extrusionOk="0">
                <a:moveTo>
                  <a:pt x="0" y="0"/>
                </a:moveTo>
                <a:cubicBezTo>
                  <a:pt x="213927" y="5385"/>
                  <a:pt x="459211" y="-16832"/>
                  <a:pt x="626332" y="0"/>
                </a:cubicBezTo>
                <a:cubicBezTo>
                  <a:pt x="793453" y="16832"/>
                  <a:pt x="1001999" y="-15497"/>
                  <a:pt x="1200469" y="0"/>
                </a:cubicBezTo>
                <a:cubicBezTo>
                  <a:pt x="1398939" y="15497"/>
                  <a:pt x="1608397" y="-18886"/>
                  <a:pt x="1905092" y="0"/>
                </a:cubicBezTo>
                <a:cubicBezTo>
                  <a:pt x="2201787" y="18886"/>
                  <a:pt x="2405176" y="14775"/>
                  <a:pt x="2609715" y="0"/>
                </a:cubicBezTo>
                <a:cubicBezTo>
                  <a:pt x="2610129" y="5928"/>
                  <a:pt x="2609945" y="11133"/>
                  <a:pt x="2609715" y="18288"/>
                </a:cubicBezTo>
                <a:cubicBezTo>
                  <a:pt x="2437672" y="45501"/>
                  <a:pt x="2157047" y="37158"/>
                  <a:pt x="2009481" y="18288"/>
                </a:cubicBezTo>
                <a:cubicBezTo>
                  <a:pt x="1861915" y="-582"/>
                  <a:pt x="1705933" y="12780"/>
                  <a:pt x="1409246" y="18288"/>
                </a:cubicBezTo>
                <a:cubicBezTo>
                  <a:pt x="1112559" y="23796"/>
                  <a:pt x="883204" y="12235"/>
                  <a:pt x="704623" y="18288"/>
                </a:cubicBezTo>
                <a:cubicBezTo>
                  <a:pt x="526042" y="24341"/>
                  <a:pt x="274196" y="39038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digital_screenshot_displays_MY_HOST_BizMate's_us.png">
            <a:extLst>
              <a:ext uri="{FF2B5EF4-FFF2-40B4-BE49-F238E27FC236}">
                <a16:creationId xmlns:a16="http://schemas.microsoft.com/office/drawing/2014/main" id="{B70C1C14-41BE-AB59-0B94-D05BE80E0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15757"/>
            <a:ext cx="4572000" cy="634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774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2011680" cy="822960"/>
          </a:xfrm>
          <a:prstGeom prst="rect">
            <a:avLst/>
          </a:prstGeom>
          <a:solidFill>
            <a:srgbClr val="FF66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PROPERTIES 🏡</a:t>
            </a:r>
          </a:p>
        </p:txBody>
      </p:sp>
      <p:sp>
        <p:nvSpPr>
          <p:cNvPr id="3" name="Rectangle 2"/>
          <p:cNvSpPr/>
          <p:nvPr/>
        </p:nvSpPr>
        <p:spPr>
          <a:xfrm>
            <a:off x="2834640" y="457200"/>
            <a:ext cx="2011680" cy="822960"/>
          </a:xfrm>
          <a:prstGeom prst="rect">
            <a:avLst/>
          </a:prstGeom>
          <a:solidFill>
            <a:srgbClr val="FF66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CUSTOMERS 👥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0" y="457200"/>
            <a:ext cx="2011680" cy="822960"/>
          </a:xfrm>
          <a:prstGeom prst="rect">
            <a:avLst/>
          </a:prstGeom>
          <a:solidFill>
            <a:srgbClr val="FF66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BOOKINGS 📘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554480"/>
            <a:ext cx="3657600" cy="914400"/>
          </a:xfrm>
          <a:prstGeom prst="rect">
            <a:avLst/>
          </a:prstGeom>
          <a:solidFill>
            <a:srgbClr val="1E90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COMMUNICATION 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2011680" cy="822960"/>
          </a:xfrm>
          <a:prstGeom prst="rect">
            <a:avLst/>
          </a:prstGeom>
          <a:solidFill>
            <a:srgbClr val="1E90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MARKETING + SOCIAL 📣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2743200"/>
            <a:ext cx="2011680" cy="822960"/>
          </a:xfrm>
          <a:prstGeom prst="rect">
            <a:avLst/>
          </a:prstGeom>
          <a:solidFill>
            <a:srgbClr val="1E90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ACTIVITIES 📝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2743200"/>
            <a:ext cx="2011680" cy="822960"/>
          </a:xfrm>
          <a:prstGeom prst="rect">
            <a:avLst/>
          </a:prstGeom>
          <a:solidFill>
            <a:srgbClr val="1E90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PAYMENTS 💳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840480"/>
            <a:ext cx="2011680" cy="822960"/>
          </a:xfrm>
          <a:prstGeom prst="rect">
            <a:avLst/>
          </a:prstGeom>
          <a:solidFill>
            <a:srgbClr val="1E90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AI ASSISTANT 🤖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3840480"/>
            <a:ext cx="2011680" cy="822960"/>
          </a:xfrm>
          <a:prstGeom prst="rect">
            <a:avLst/>
          </a:prstGeom>
          <a:solidFill>
            <a:srgbClr val="1E90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REVENUE 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3840480"/>
            <a:ext cx="2011680" cy="822960"/>
          </a:xfrm>
          <a:prstGeom prst="rect">
            <a:avLst/>
          </a:prstGeom>
          <a:solidFill>
            <a:srgbClr val="1E90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LOCAL CULTURE 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37760"/>
            <a:ext cx="2011680" cy="822960"/>
          </a:xfrm>
          <a:prstGeom prst="rect">
            <a:avLst/>
          </a:prstGeom>
          <a:solidFill>
            <a:srgbClr val="FF66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WORKFLOWS 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4937760"/>
            <a:ext cx="2011680" cy="822960"/>
          </a:xfrm>
          <a:prstGeom prst="rect">
            <a:avLst/>
          </a:prstGeom>
          <a:solidFill>
            <a:srgbClr val="1E90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AI VOICE 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4937760"/>
            <a:ext cx="2011680" cy="822960"/>
          </a:xfrm>
          <a:prstGeom prst="rect">
            <a:avLst/>
          </a:prstGeom>
          <a:solidFill>
            <a:srgbClr val="FF66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DASHBOARD 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Operations &amp; Guest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Dashboard 📊: Real-time KPIs: occupancy, revenue, trends.</a:t>
            </a:r>
          </a:p>
          <a:p>
            <a:r>
              <a:t>• Bookings 📅: Unified calendar, check-ins, availability.</a:t>
            </a:r>
          </a:p>
          <a:p>
            <a:r>
              <a:t>• Messages 💬: AI WhatsApp/email replies &amp; templates.</a:t>
            </a: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&amp; 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Payments 💳: QRIS, GoPay, OVO, Stripe centralized.</a:t>
            </a:r>
          </a:p>
          <a:p>
            <a:r>
              <a:t>• Smart Pricing 💹: Dynamic pricing based on demand.</a:t>
            </a:r>
          </a:p>
          <a:p>
            <a:r>
              <a:t>• Reports 📈: 12-month analytics &amp; insights.</a:t>
            </a:r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Intelligence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Assistant 🤖: Recommends actions &amp; optimizations.</a:t>
            </a:r>
          </a:p>
          <a:p>
            <a:r>
              <a:t>• AI Voice Agent 🎧: Handles calls, FAQs, upsells.</a:t>
            </a:r>
          </a:p>
          <a:p>
            <a:r>
              <a:t>• Cultural Intelligence 🌺: Local customs, etiquette &amp; messages.</a:t>
            </a:r>
          </a:p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&amp;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Multichannel 🔗: Sync with Booking, Airbnb, Agoda.</a:t>
            </a:r>
          </a:p>
          <a:p>
            <a:r>
              <a:t>• Marketing 📣: Campaign planning + AI content.</a:t>
            </a:r>
          </a:p>
          <a:p>
            <a:r>
              <a:t>• Social Publisher 📱: Schedule IG, TikTok, YouTube posts.</a:t>
            </a:r>
          </a:p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199</Words>
  <Application>Microsoft Office PowerPoint</Application>
  <PresentationFormat>On-screen Show (4:3)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MY HOST BizMate – Modern UI Overview</vt:lpstr>
      <vt:lpstr>PowerPoint Presentation</vt:lpstr>
      <vt:lpstr>PowerPoint Presentation</vt:lpstr>
      <vt:lpstr>Operations &amp; Guest Management</vt:lpstr>
      <vt:lpstr>Revenue &amp; Pricing</vt:lpstr>
      <vt:lpstr>AI Intelligence Layer</vt:lpstr>
      <vt:lpstr>Marketing &amp; Growth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Jose Carrallo</dc:creator>
  <cp:keywords/>
  <dc:description>generated using python-pptx</dc:description>
  <cp:lastModifiedBy>JOSE CARRALLO DE LA FUENTE</cp:lastModifiedBy>
  <cp:revision>2</cp:revision>
  <dcterms:created xsi:type="dcterms:W3CDTF">2013-01-27T09:14:16Z</dcterms:created>
  <dcterms:modified xsi:type="dcterms:W3CDTF">2025-11-23T00:41:15Z</dcterms:modified>
  <cp:category/>
</cp:coreProperties>
</file>