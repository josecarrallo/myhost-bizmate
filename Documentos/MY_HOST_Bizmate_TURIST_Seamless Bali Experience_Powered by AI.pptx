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64" r:id="rId3"/>
    <p:sldId id="265" r:id="rId4"/>
    <p:sldId id="258" r:id="rId5"/>
    <p:sldId id="257" r:id="rId6"/>
    <p:sldId id="266" r:id="rId7"/>
    <p:sldId id="260" r:id="rId8"/>
    <p:sldId id="263" r:id="rId9"/>
    <p:sldId id="269" r:id="rId10"/>
    <p:sldId id="262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465" autoAdjust="0"/>
  </p:normalViewPr>
  <p:slideViewPr>
    <p:cSldViewPr snapToGrid="0" snapToObjects="1">
      <p:cViewPr varScale="1">
        <p:scale>
          <a:sx n="54" d="100"/>
          <a:sy n="54" d="100"/>
        </p:scale>
        <p:origin x="164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Financial Projections 2026 - 2029</a:t>
            </a:r>
          </a:p>
          <a:p>
            <a:pPr>
              <a:defRPr/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Sheet1!$C$28</c:f>
              <c:strCache>
                <c:ptCount val="1"/>
                <c:pt idx="0">
                  <c:v>Year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Sheet1!$C$29:$C$33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14-47AD-B131-64F244553F09}"/>
            </c:ext>
          </c:extLst>
        </c:ser>
        <c:ser>
          <c:idx val="1"/>
          <c:order val="1"/>
          <c:tx>
            <c:strRef>
              <c:f>Sheet1!$D$28</c:f>
              <c:strCache>
                <c:ptCount val="1"/>
                <c:pt idx="0">
                  <c:v>Customers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Sheet1!$D$29:$D$33</c:f>
              <c:numCache>
                <c:formatCode>#,##0</c:formatCode>
                <c:ptCount val="5"/>
                <c:pt idx="0">
                  <c:v>167</c:v>
                </c:pt>
                <c:pt idx="1">
                  <c:v>1050</c:v>
                </c:pt>
                <c:pt idx="2">
                  <c:v>1750</c:v>
                </c:pt>
                <c:pt idx="3">
                  <c:v>3500</c:v>
                </c:pt>
                <c:pt idx="4">
                  <c:v>5250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14-47AD-B131-64F244553F09}"/>
            </c:ext>
          </c:extLst>
        </c:ser>
        <c:ser>
          <c:idx val="2"/>
          <c:order val="2"/>
          <c:tx>
            <c:strRef>
              <c:f>Sheet1!$E$28</c:f>
              <c:strCache>
                <c:ptCount val="1"/>
                <c:pt idx="0">
                  <c:v>Revenue ($35)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Sheet1!$E$29:$E$33</c:f>
              <c:numCache>
                <c:formatCode>#,##0</c:formatCode>
                <c:ptCount val="5"/>
                <c:pt idx="0">
                  <c:v>70140</c:v>
                </c:pt>
                <c:pt idx="1">
                  <c:v>441000</c:v>
                </c:pt>
                <c:pt idx="2">
                  <c:v>735000</c:v>
                </c:pt>
                <c:pt idx="3">
                  <c:v>1470000</c:v>
                </c:pt>
                <c:pt idx="4">
                  <c:v>2205000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14-47AD-B131-64F244553F09}"/>
            </c:ext>
          </c:extLst>
        </c:ser>
        <c:ser>
          <c:idx val="3"/>
          <c:order val="3"/>
          <c:tx>
            <c:strRef>
              <c:f>Sheet1!$F$28</c:f>
              <c:strCache>
                <c:ptCount val="1"/>
                <c:pt idx="0">
                  <c:v>Revenue ($45)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Sheet1!$F$29:$F$33</c:f>
              <c:numCache>
                <c:formatCode>#,##0</c:formatCode>
                <c:ptCount val="5"/>
                <c:pt idx="0">
                  <c:v>90180</c:v>
                </c:pt>
                <c:pt idx="1">
                  <c:v>567000</c:v>
                </c:pt>
                <c:pt idx="2">
                  <c:v>945000</c:v>
                </c:pt>
                <c:pt idx="3">
                  <c:v>1890000</c:v>
                </c:pt>
                <c:pt idx="4">
                  <c:v>2835000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014-47AD-B131-64F244553F09}"/>
            </c:ext>
          </c:extLst>
        </c:ser>
        <c:ser>
          <c:idx val="4"/>
          <c:order val="4"/>
          <c:tx>
            <c:strRef>
              <c:f>Sheet1!$G$28</c:f>
              <c:strCache>
                <c:ptCount val="1"/>
                <c:pt idx="0">
                  <c:v>Expenses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Sheet1!$G$29:$G$33</c:f>
              <c:numCache>
                <c:formatCode>#,##0</c:formatCode>
                <c:ptCount val="5"/>
                <c:pt idx="0">
                  <c:v>70000</c:v>
                </c:pt>
                <c:pt idx="1">
                  <c:v>300000</c:v>
                </c:pt>
                <c:pt idx="2">
                  <c:v>450000</c:v>
                </c:pt>
                <c:pt idx="3">
                  <c:v>800000</c:v>
                </c:pt>
                <c:pt idx="4">
                  <c:v>1400000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14-47AD-B131-64F244553F09}"/>
            </c:ext>
          </c:extLst>
        </c:ser>
        <c:ser>
          <c:idx val="5"/>
          <c:order val="5"/>
          <c:tx>
            <c:strRef>
              <c:f>Sheet1!$H$28</c:f>
              <c:strCache>
                <c:ptCount val="1"/>
                <c:pt idx="0">
                  <c:v>EBITDA ($35)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Sheet1!$H$29:$H$33</c:f>
              <c:numCache>
                <c:formatCode>#,##0</c:formatCode>
                <c:ptCount val="5"/>
                <c:pt idx="0">
                  <c:v>140</c:v>
                </c:pt>
                <c:pt idx="1">
                  <c:v>141000</c:v>
                </c:pt>
                <c:pt idx="2">
                  <c:v>285000</c:v>
                </c:pt>
                <c:pt idx="3">
                  <c:v>670000</c:v>
                </c:pt>
                <c:pt idx="4">
                  <c:v>805000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014-47AD-B131-64F244553F09}"/>
            </c:ext>
          </c:extLst>
        </c:ser>
        <c:ser>
          <c:idx val="6"/>
          <c:order val="6"/>
          <c:tx>
            <c:strRef>
              <c:f>Sheet1!$I$28</c:f>
              <c:strCache>
                <c:ptCount val="1"/>
                <c:pt idx="0">
                  <c:v>EBITDA ($45)</c:v>
                </c:pt>
              </c:strCache>
            </c:strRef>
          </c:tx>
          <c:spPr>
            <a:ln w="34925" cap="rnd">
              <a:solidFill>
                <a:schemeClr val="accent1">
                  <a:lumMod val="60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Sheet1!$I$29:$I$33</c:f>
              <c:numCache>
                <c:formatCode>#,##0</c:formatCode>
                <c:ptCount val="5"/>
                <c:pt idx="0">
                  <c:v>20180</c:v>
                </c:pt>
                <c:pt idx="1">
                  <c:v>267000</c:v>
                </c:pt>
                <c:pt idx="2">
                  <c:v>495000</c:v>
                </c:pt>
                <c:pt idx="3">
                  <c:v>1090000</c:v>
                </c:pt>
                <c:pt idx="4">
                  <c:v>1435000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14-47AD-B131-64F244553F0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085462368"/>
        <c:axId val="1085463328"/>
      </c:lineChart>
      <c:catAx>
        <c:axId val="1085462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5463328"/>
        <c:crosses val="autoZero"/>
        <c:auto val="1"/>
        <c:lblAlgn val="ctr"/>
        <c:lblOffset val="100"/>
        <c:noMultiLvlLbl val="0"/>
      </c:catAx>
      <c:valAx>
        <c:axId val="1085463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5462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BBD085-BE5A-E510-0709-5482A42B0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3" y="293914"/>
            <a:ext cx="6106886" cy="656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4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686" y="24267"/>
            <a:ext cx="8229600" cy="1143000"/>
          </a:xfrm>
        </p:spPr>
        <p:txBody>
          <a:bodyPr>
            <a:normAutofit/>
          </a:bodyPr>
          <a:lstStyle/>
          <a:p>
            <a:r>
              <a:rPr lang="en-US" sz="2500" b="1" dirty="0">
                <a:latin typeface="+mn-lt"/>
              </a:rPr>
              <a:t>MY HOST </a:t>
            </a:r>
            <a:r>
              <a:rPr lang="en-US" sz="2500" b="1" dirty="0" err="1">
                <a:latin typeface="+mn-lt"/>
              </a:rPr>
              <a:t>Bizmate</a:t>
            </a:r>
            <a:r>
              <a:rPr lang="en-US" sz="2500" b="1" dirty="0">
                <a:latin typeface="+mn-lt"/>
              </a:rPr>
              <a:t> BALI – Tourist APP SaaS Infrastructure</a:t>
            </a:r>
            <a:br>
              <a:rPr lang="es-ES" sz="2500" b="1" dirty="0">
                <a:latin typeface="+mn-lt"/>
              </a:rPr>
            </a:br>
            <a:r>
              <a:rPr sz="2500" b="1" dirty="0">
                <a:latin typeface="+mn-lt"/>
              </a:rPr>
              <a:t>Problem →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85" y="762000"/>
            <a:ext cx="8501743" cy="4525963"/>
          </a:xfrm>
        </p:spPr>
        <p:txBody>
          <a:bodyPr>
            <a:normAutofit fontScale="85000" lnSpcReduction="10000"/>
          </a:bodyPr>
          <a:lstStyle/>
          <a:p>
            <a:endParaRPr dirty="0"/>
          </a:p>
          <a:p>
            <a:pPr>
              <a:defRPr sz="2000" b="1"/>
            </a:pPr>
            <a:r>
              <a:rPr sz="2500" dirty="0"/>
              <a:t>Problem</a:t>
            </a:r>
          </a:p>
          <a:p>
            <a:pPr lvl="1"/>
            <a:r>
              <a:rPr sz="2500" dirty="0"/>
              <a:t>Tourists juggle fragmented apps (Airbnb, Klook, Traveloka) and slow vendor responses</a:t>
            </a:r>
          </a:p>
          <a:p>
            <a:pPr lvl="1"/>
            <a:r>
              <a:rPr sz="2500" dirty="0"/>
              <a:t>Local SMBs lack digital tools, losing bookings and upsell revenue</a:t>
            </a:r>
          </a:p>
          <a:p>
            <a:pPr lvl="1"/>
            <a:r>
              <a:rPr sz="2500" dirty="0"/>
              <a:t>Disconnected systems → friction, errors, and poor guest experience</a:t>
            </a:r>
            <a:endParaRPr lang="es-ES" sz="2500" dirty="0"/>
          </a:p>
          <a:p>
            <a:pPr marL="457200" lvl="1" indent="0">
              <a:buNone/>
            </a:pPr>
            <a:endParaRPr sz="2500" dirty="0"/>
          </a:p>
          <a:p>
            <a:pPr>
              <a:defRPr sz="2000" b="1"/>
            </a:pPr>
            <a:r>
              <a:rPr sz="2500" dirty="0"/>
              <a:t>Solution</a:t>
            </a:r>
          </a:p>
          <a:p>
            <a:pPr lvl="1"/>
            <a:r>
              <a:rPr sz="2500" dirty="0"/>
              <a:t>One unified, AI-powered platform via WhatsApp + Web/Mobile App</a:t>
            </a:r>
          </a:p>
          <a:p>
            <a:pPr lvl="1"/>
            <a:r>
              <a:rPr sz="2500" dirty="0"/>
              <a:t>Instant bookings, secure payments, multilingual concierge 24/7</a:t>
            </a:r>
          </a:p>
          <a:p>
            <a:pPr lvl="1"/>
            <a:r>
              <a:rPr sz="2500" dirty="0"/>
              <a:t>Smart, profile-based recommendations and automated upselling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D12E8-CD0C-408F-BAD3-8EE1AD63C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4" y="142762"/>
            <a:ext cx="555171" cy="5007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1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2500" b="1" dirty="0"/>
              <a:t>MY HOT </a:t>
            </a:r>
            <a:r>
              <a:rPr lang="en-US" sz="2500" b="1" dirty="0" err="1"/>
              <a:t>Bizmante</a:t>
            </a:r>
            <a:r>
              <a:rPr lang="en-US" sz="2500" b="1" dirty="0"/>
              <a:t> BALI – Tourist APP SaaS Infrastructure</a:t>
            </a:r>
            <a:br>
              <a:rPr lang="es-ES" sz="2500" dirty="0"/>
            </a:br>
            <a:r>
              <a:rPr sz="2500" b="1" dirty="0"/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0" y="1166018"/>
            <a:ext cx="8599715" cy="4525963"/>
          </a:xfrm>
        </p:spPr>
        <p:txBody>
          <a:bodyPr>
            <a:normAutofit/>
          </a:bodyPr>
          <a:lstStyle/>
          <a:p>
            <a:r>
              <a:rPr sz="2100" dirty="0"/>
              <a:t>24/7 AI concierge inside WhatsApp (zero learning curve for tourists &amp; vendors)</a:t>
            </a:r>
          </a:p>
          <a:p>
            <a:r>
              <a:rPr sz="2100" dirty="0"/>
              <a:t>Built for Bali’s SMB ecosystem (villas, cafés, tours) — not only big chains</a:t>
            </a:r>
          </a:p>
          <a:p>
            <a:r>
              <a:rPr sz="2100" dirty="0"/>
              <a:t>Lean, modular stack: n8n automation + Supabase + OpenAI/OpenRouter</a:t>
            </a:r>
          </a:p>
          <a:p>
            <a:r>
              <a:rPr sz="2100" dirty="0"/>
              <a:t>Multilingual, personalized offers; rapid onboarding for local partners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D6C3F-6964-C880-1D0D-34146000C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45" y="124987"/>
            <a:ext cx="554784" cy="506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299" y="98762"/>
            <a:ext cx="8744766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rPr lang="en-US" sz="2500" dirty="0"/>
              <a:t>MY HOST </a:t>
            </a:r>
            <a:r>
              <a:rPr lang="en-US" sz="2500" dirty="0" err="1"/>
              <a:t>Bizmate</a:t>
            </a:r>
            <a:r>
              <a:rPr lang="en-US" sz="2500" dirty="0"/>
              <a:t> BALI – Tourist APP SaaS Infrastructure</a:t>
            </a:r>
            <a:endParaRPr lang="es-ES" sz="2500" dirty="0"/>
          </a:p>
          <a:p>
            <a:pPr algn="ctr">
              <a:defRPr sz="2400" b="1">
                <a:solidFill>
                  <a:srgbClr val="000000"/>
                </a:solidFill>
              </a:defRPr>
            </a:pPr>
            <a:r>
              <a:rPr sz="2500" dirty="0"/>
              <a:t>Customer Journey – Tourist → App → Backend → AI →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664" y="1924598"/>
            <a:ext cx="1828800" cy="1097280"/>
          </a:xfrm>
          <a:prstGeom prst="rect">
            <a:avLst/>
          </a:prstGeom>
          <a:solidFill>
            <a:srgbClr val="FFF2CC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TOURIST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Booking/Question</a:t>
            </a:r>
            <a:br>
              <a:rPr dirty="0"/>
            </a:br>
            <a:r>
              <a:rPr dirty="0"/>
              <a:t>(WhatsApp/App)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6159" y="1924598"/>
            <a:ext cx="1828800" cy="1097280"/>
          </a:xfrm>
          <a:prstGeom prst="rect">
            <a:avLst/>
          </a:prstGeom>
          <a:solidFill>
            <a:srgbClr val="FFF2CC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APP FRONTEND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Lovable UI</a:t>
            </a:r>
            <a:br>
              <a:rPr dirty="0"/>
            </a:br>
            <a:r>
              <a:rPr dirty="0"/>
              <a:t>(Web/Mobile)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9957" y="1950721"/>
            <a:ext cx="1828800" cy="1097280"/>
          </a:xfrm>
          <a:prstGeom prst="rect">
            <a:avLst/>
          </a:prstGeom>
          <a:solidFill>
            <a:srgbClr val="F4CCCC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AUTOMATION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n8n Workflows</a:t>
            </a:r>
            <a:br>
              <a:rPr dirty="0"/>
            </a:br>
            <a:r>
              <a:rPr dirty="0"/>
              <a:t>APIs &amp; 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77149" y="1924598"/>
            <a:ext cx="1728651" cy="1097280"/>
          </a:xfrm>
          <a:prstGeom prst="rect">
            <a:avLst/>
          </a:prstGeom>
          <a:solidFill>
            <a:srgbClr val="D9EAD3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DATABASE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Supabase</a:t>
            </a:r>
            <a:br>
              <a:rPr dirty="0"/>
            </a:br>
            <a:r>
              <a:rPr dirty="0"/>
              <a:t>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1861" y="5162008"/>
            <a:ext cx="1741714" cy="1097280"/>
          </a:xfrm>
          <a:prstGeom prst="rect">
            <a:avLst/>
          </a:prstGeom>
          <a:solidFill>
            <a:srgbClr val="EAD1DC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AI MODELS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OpenAI </a:t>
            </a:r>
            <a:endParaRPr lang="es-ES" dirty="0"/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lang="es-ES" dirty="0"/>
              <a:t>Spark Microsoft</a:t>
            </a:r>
            <a:endParaRPr lang="en-GB" dirty="0"/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OpenRouter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0421228-F0EF-BA96-D605-59DE239268B8}"/>
              </a:ext>
            </a:extLst>
          </p:cNvPr>
          <p:cNvSpPr/>
          <p:nvPr/>
        </p:nvSpPr>
        <p:spPr>
          <a:xfrm>
            <a:off x="457200" y="1367250"/>
            <a:ext cx="7772400" cy="3831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A0CAE7B0-0A0F-BC86-00AB-1ADE85AEA12F}"/>
              </a:ext>
            </a:extLst>
          </p:cNvPr>
          <p:cNvSpPr/>
          <p:nvPr/>
        </p:nvSpPr>
        <p:spPr>
          <a:xfrm>
            <a:off x="3951515" y="3265714"/>
            <a:ext cx="762000" cy="1719943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57B210-BA15-25E7-B4FF-5ABB26C59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72" y="98762"/>
            <a:ext cx="554784" cy="506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923" y="40029"/>
            <a:ext cx="8478219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rPr lang="en-US" dirty="0"/>
              <a:t>MY HOST </a:t>
            </a:r>
            <a:r>
              <a:rPr lang="en-US" dirty="0" err="1"/>
              <a:t>Bizmate</a:t>
            </a:r>
            <a:r>
              <a:rPr lang="en-US" dirty="0"/>
              <a:t> BALI – Tourist APP SaaS Infrastructure</a:t>
            </a:r>
            <a:endParaRPr lang="es-ES" dirty="0"/>
          </a:p>
          <a:p>
            <a:pPr algn="ctr">
              <a:defRPr sz="2800" b="1">
                <a:solidFill>
                  <a:srgbClr val="000000"/>
                </a:solidFill>
              </a:defRPr>
            </a:pPr>
            <a:r>
              <a:rPr sz="2500" dirty="0"/>
              <a:t>Layer Workflows (Key Steps)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6497" y="1588770"/>
            <a:ext cx="2743200" cy="1234440"/>
          </a:xfrm>
          <a:prstGeom prst="rect">
            <a:avLst/>
          </a:prstGeom>
          <a:solidFill>
            <a:srgbClr val="CFE2F3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INFRASTRUCTURE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Railway/VPS → Docker → EasyPanel/Portainer → Deploy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590947"/>
            <a:ext cx="2743200" cy="1234440"/>
          </a:xfrm>
          <a:prstGeom prst="rect">
            <a:avLst/>
          </a:prstGeom>
          <a:solidFill>
            <a:srgbClr val="F4CCCC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AUTOMATION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Webhook (Lovable) → n8n Flow → Supabase/API → WhatsApp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593124"/>
            <a:ext cx="2743200" cy="1234440"/>
          </a:xfrm>
          <a:prstGeom prst="rect">
            <a:avLst/>
          </a:prstGeom>
          <a:solidFill>
            <a:srgbClr val="D9EAD3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DATABASE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Supabase Auth → PostgreSQL → pgvector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417571"/>
            <a:ext cx="2743200" cy="1234440"/>
          </a:xfrm>
          <a:prstGeom prst="rect">
            <a:avLst/>
          </a:prstGeom>
          <a:solidFill>
            <a:srgbClr val="EAD1DC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AI MODELS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Input → GPT-5/OpenRouter → Spark →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89811"/>
            <a:ext cx="2743200" cy="1234440"/>
          </a:xfrm>
          <a:prstGeom prst="rect">
            <a:avLst/>
          </a:prstGeom>
          <a:solidFill>
            <a:srgbClr val="FFF2CC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FRONTEND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User → Lovable App → Webhook → n8n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3429000"/>
            <a:ext cx="2743200" cy="1234440"/>
          </a:xfrm>
          <a:prstGeom prst="rect">
            <a:avLst/>
          </a:prstGeom>
          <a:solidFill>
            <a:srgbClr val="D0E0E3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MONITORING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Railway Logs → Alerts → Uptime Kuma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464325"/>
            <a:ext cx="2743200" cy="1234440"/>
          </a:xfrm>
          <a:prstGeom prst="rect">
            <a:avLst/>
          </a:prstGeom>
          <a:solidFill>
            <a:srgbClr val="E6B8A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000000"/>
                </a:solidFill>
              </a:defRPr>
            </a:pPr>
            <a:r>
              <a:rPr dirty="0"/>
              <a:t>DEVELOPMENT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000000"/>
                </a:solidFill>
              </a:defRPr>
            </a:pPr>
            <a:r>
              <a:rPr dirty="0"/>
              <a:t>GitHub → Spark → CI/CD → Docker Deploy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D3FDB50-DE20-F595-4F93-59D767BFBF23}"/>
              </a:ext>
            </a:extLst>
          </p:cNvPr>
          <p:cNvSpPr/>
          <p:nvPr/>
        </p:nvSpPr>
        <p:spPr>
          <a:xfrm>
            <a:off x="2906486" y="2024743"/>
            <a:ext cx="381000" cy="1812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5B71DE0-1573-0658-2834-51A62A7FED5B}"/>
              </a:ext>
            </a:extLst>
          </p:cNvPr>
          <p:cNvSpPr/>
          <p:nvPr/>
        </p:nvSpPr>
        <p:spPr>
          <a:xfrm>
            <a:off x="5856516" y="2024743"/>
            <a:ext cx="381000" cy="1812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A0F430B-6011-2E44-ACF5-B20A9EC70C1D}"/>
              </a:ext>
            </a:extLst>
          </p:cNvPr>
          <p:cNvSpPr/>
          <p:nvPr/>
        </p:nvSpPr>
        <p:spPr>
          <a:xfrm>
            <a:off x="2918460" y="3955596"/>
            <a:ext cx="381000" cy="1812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A33567E-00C7-14CD-0DD2-9C00A0454A2D}"/>
              </a:ext>
            </a:extLst>
          </p:cNvPr>
          <p:cNvSpPr/>
          <p:nvPr/>
        </p:nvSpPr>
        <p:spPr>
          <a:xfrm>
            <a:off x="5901146" y="3976551"/>
            <a:ext cx="381000" cy="1812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7CAE105-5BF8-4880-24C0-8C12AACB80C0}"/>
              </a:ext>
            </a:extLst>
          </p:cNvPr>
          <p:cNvSpPr/>
          <p:nvPr/>
        </p:nvSpPr>
        <p:spPr>
          <a:xfrm>
            <a:off x="4299857" y="4761411"/>
            <a:ext cx="566057" cy="63189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C4856F-5DB1-A803-18E9-75625E61C59F}"/>
              </a:ext>
            </a:extLst>
          </p:cNvPr>
          <p:cNvCxnSpPr>
            <a:cxnSpLocks/>
          </p:cNvCxnSpPr>
          <p:nvPr/>
        </p:nvCxnSpPr>
        <p:spPr>
          <a:xfrm flipH="1">
            <a:off x="2569029" y="2960370"/>
            <a:ext cx="4572000" cy="3271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E187D83-ED08-0A06-E96C-7018C88FC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8" y="46938"/>
            <a:ext cx="554784" cy="506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1" y="13381"/>
            <a:ext cx="8229600" cy="1143000"/>
          </a:xfrm>
        </p:spPr>
        <p:txBody>
          <a:bodyPr>
            <a:normAutofit/>
          </a:bodyPr>
          <a:lstStyle/>
          <a:p>
            <a:r>
              <a:rPr lang="en-US" sz="2500" b="1" dirty="0"/>
              <a:t>MY HOST </a:t>
            </a:r>
            <a:r>
              <a:rPr lang="en-US" sz="2500" b="1" dirty="0" err="1"/>
              <a:t>Bizmate</a:t>
            </a:r>
            <a:r>
              <a:rPr lang="en-US" sz="2500" b="1" dirty="0"/>
              <a:t> BALI – Tourist APP SaaS Infrastructure</a:t>
            </a:r>
            <a:br>
              <a:rPr lang="es-ES" sz="2500" dirty="0"/>
            </a:br>
            <a:r>
              <a:rPr sz="2500" dirty="0"/>
              <a:t>4-Month Delivery Roadmap (Sep–Dec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1" y="1156381"/>
            <a:ext cx="8577943" cy="4525963"/>
          </a:xfrm>
        </p:spPr>
        <p:txBody>
          <a:bodyPr>
            <a:noAutofit/>
          </a:bodyPr>
          <a:lstStyle/>
          <a:p>
            <a:pPr>
              <a:defRPr sz="1600" b="1"/>
            </a:pPr>
            <a:r>
              <a:rPr dirty="0"/>
              <a:t>Month 1 – September (Core Booking MVP)</a:t>
            </a:r>
          </a:p>
          <a:p>
            <a:pPr lvl="1">
              <a:defRPr sz="1400"/>
            </a:pPr>
            <a:r>
              <a:rPr dirty="0"/>
              <a:t>Integrate WhatsApp Cloud API (text + templates).</a:t>
            </a:r>
          </a:p>
          <a:p>
            <a:pPr lvl="1">
              <a:defRPr sz="1400"/>
            </a:pPr>
            <a:r>
              <a:rPr dirty="0"/>
              <a:t>Launch Supabase database (Auth + Postgres).</a:t>
            </a:r>
          </a:p>
          <a:p>
            <a:pPr lvl="1">
              <a:defRPr sz="1400"/>
            </a:pPr>
            <a:r>
              <a:rPr dirty="0"/>
              <a:t>Develop n8n workflows for inquiry → availability → confirmation.</a:t>
            </a:r>
          </a:p>
          <a:p>
            <a:pPr lvl="1">
              <a:defRPr sz="1400"/>
            </a:pPr>
            <a:r>
              <a:rPr dirty="0"/>
              <a:t>Milestone: End-to-end booking flow works in staging.</a:t>
            </a:r>
          </a:p>
          <a:p>
            <a:pPr>
              <a:defRPr sz="1600" b="1"/>
            </a:pPr>
            <a:r>
              <a:rPr dirty="0"/>
              <a:t>Month 2 – October (AI Upselling + Payments)</a:t>
            </a:r>
          </a:p>
          <a:p>
            <a:pPr lvl="1">
              <a:defRPr sz="1400"/>
            </a:pPr>
            <a:r>
              <a:rPr dirty="0"/>
              <a:t>Connect AI models via OpenAI/OpenRouter for responses.</a:t>
            </a:r>
          </a:p>
          <a:p>
            <a:pPr lvl="1">
              <a:defRPr sz="1400"/>
            </a:pPr>
            <a:r>
              <a:rPr dirty="0"/>
              <a:t>Integrate upselling logic into workflows.</a:t>
            </a:r>
          </a:p>
          <a:p>
            <a:pPr lvl="1">
              <a:defRPr sz="1400"/>
            </a:pPr>
            <a:r>
              <a:rPr dirty="0"/>
              <a:t>Integrate payment gateway (sandbox tested).</a:t>
            </a:r>
          </a:p>
          <a:p>
            <a:pPr lvl="1">
              <a:defRPr sz="1400"/>
            </a:pPr>
            <a:r>
              <a:rPr dirty="0"/>
              <a:t>Milestone: AI responses + payments tested successfully in staging.</a:t>
            </a:r>
          </a:p>
          <a:p>
            <a:pPr>
              <a:defRPr sz="1600" b="1"/>
            </a:pPr>
            <a:r>
              <a:rPr dirty="0"/>
              <a:t>Month 3 – November (Marketplace + Vendor Portal)</a:t>
            </a:r>
          </a:p>
          <a:p>
            <a:pPr lvl="1">
              <a:defRPr sz="1400"/>
            </a:pPr>
            <a:r>
              <a:rPr dirty="0"/>
              <a:t>Launch vendor portal (listings, prices, promos).</a:t>
            </a:r>
          </a:p>
          <a:p>
            <a:pPr lvl="1">
              <a:defRPr sz="1400"/>
            </a:pPr>
            <a:r>
              <a:rPr dirty="0"/>
              <a:t>Deploy marketplace frontend (Lovable app) connected to backend APIs.</a:t>
            </a:r>
          </a:p>
          <a:p>
            <a:pPr lvl="1">
              <a:defRPr sz="1400"/>
            </a:pPr>
            <a:r>
              <a:rPr dirty="0"/>
              <a:t>Set up monitoring &amp; logging (Railway, alerts).</a:t>
            </a:r>
          </a:p>
          <a:p>
            <a:pPr lvl="1">
              <a:defRPr sz="1400"/>
            </a:pPr>
            <a:r>
              <a:rPr dirty="0"/>
              <a:t>Milestone: Marketplace navigation + vendor portal operational in staging.</a:t>
            </a:r>
          </a:p>
          <a:p>
            <a:pPr>
              <a:defRPr sz="1600" b="1"/>
            </a:pPr>
            <a:r>
              <a:rPr dirty="0"/>
              <a:t>Month 4 – December (Launch Prep &amp; Hardening)</a:t>
            </a:r>
          </a:p>
          <a:p>
            <a:pPr lvl="1">
              <a:defRPr sz="1400"/>
            </a:pPr>
            <a:r>
              <a:rPr dirty="0"/>
              <a:t>Complete security &amp; load tests.</a:t>
            </a:r>
          </a:p>
          <a:p>
            <a:pPr lvl="1">
              <a:defRPr sz="1400"/>
            </a:pPr>
            <a:r>
              <a:rPr dirty="0"/>
              <a:t>Deploy production environment (Railway/VPS + Docker).</a:t>
            </a:r>
          </a:p>
          <a:p>
            <a:pPr lvl="1">
              <a:defRPr sz="1400"/>
            </a:pPr>
            <a:r>
              <a:rPr dirty="0"/>
              <a:t>Prepare marketing campaigns for launch.</a:t>
            </a:r>
          </a:p>
          <a:p>
            <a:pPr lvl="1">
              <a:defRPr sz="1400"/>
            </a:pPr>
            <a:r>
              <a:rPr dirty="0"/>
              <a:t>Milestone: Application ready for public beta with first pilot vendors.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1BEF2-217E-60FF-B7BF-7C66DEEC7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07" y="201708"/>
            <a:ext cx="554784" cy="5060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731" y="8709"/>
            <a:ext cx="8228535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sz="2800" dirty="0"/>
              <a:t>TOURIST – Seamless Bali Experience – Powered by AI</a:t>
            </a:r>
            <a:endParaRPr lang="es-ES" sz="2800" dirty="0"/>
          </a:p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lang="en-GB" sz="2500" dirty="0"/>
              <a:t>Market opportunity &amp; Financial projections</a:t>
            </a:r>
            <a:endParaRPr sz="2500" dirty="0"/>
          </a:p>
        </p:txBody>
      </p:sp>
      <p:sp>
        <p:nvSpPr>
          <p:cNvPr id="3" name="TextBox 2"/>
          <p:cNvSpPr txBox="1"/>
          <p:nvPr/>
        </p:nvSpPr>
        <p:spPr>
          <a:xfrm>
            <a:off x="385179" y="937154"/>
            <a:ext cx="8758821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2400" b="1" dirty="0"/>
              <a:t>Target Market</a:t>
            </a:r>
            <a:endParaRPr lang="es-ES" sz="2400" b="1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sz="2000" dirty="0"/>
              <a:t>35,000+ local business owners (cafés, villas, small restaurants, tours)</a:t>
            </a:r>
            <a:endParaRPr lang="es-ES" sz="2000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lang="en-US" sz="2000" dirty="0"/>
              <a:t>S</a:t>
            </a:r>
            <a:r>
              <a:rPr sz="2000" dirty="0"/>
              <a:t>eeking digital tools in Bali</a:t>
            </a:r>
            <a:endParaRPr lang="es-ES" sz="2000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sz="2000" dirty="0"/>
              <a:t>Unified access to Villas, Cafés, Tours &amp; Restaurants through a single AI-driven platform</a:t>
            </a:r>
            <a:endParaRPr lang="es-ES" sz="2000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sz="2000" dirty="0"/>
              <a:t>A</a:t>
            </a:r>
            <a:r>
              <a:rPr lang="es-ES" sz="2000" dirty="0"/>
              <a:t>I</a:t>
            </a:r>
            <a:r>
              <a:rPr sz="2000" dirty="0"/>
              <a:t> for real-time personalized recommendations and upselling opportunities</a:t>
            </a:r>
            <a:endParaRPr lang="es-ES" sz="2000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sz="2000" dirty="0"/>
              <a:t>Instant bookings &amp; secure payments with automated workflows</a:t>
            </a:r>
            <a:endParaRPr lang="es-ES" sz="2000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sz="2000" dirty="0"/>
              <a:t>Multilingual WhatsApp concierge (24/7) enhanced by AI conversation models</a:t>
            </a:r>
            <a:endParaRPr lang="es-ES" sz="2000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sz="2000" dirty="0"/>
              <a:t>Exclusive offers from curated partners, personalized for each tourist profile</a:t>
            </a:r>
            <a:endParaRPr lang="es-ES" sz="2000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sz="2000" dirty="0"/>
              <a:t>Competition: fragmented apps (Traveloka, Airbnb, Klook)</a:t>
            </a:r>
            <a:endParaRPr lang="es-ES" sz="2000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lang="en-US" sz="2000" dirty="0"/>
              <a:t>None provide a unified AI-powered solution for Bali’s local ecosystem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unified, AI-powered platform via WhatsApp + Web/Mobile App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Instant bookings, secure payments, multilingual concierge 24/7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Smart, profile-based recommendations and automated upselling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sz="2000" dirty="0"/>
              <a:t>Seamless Bali Experience – Powered by AI</a:t>
            </a:r>
          </a:p>
          <a:p>
            <a:pPr marR="0" lvl="1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>
              <a:defRPr sz="1400">
                <a:solidFill>
                  <a:srgbClr val="000000"/>
                </a:solidFill>
              </a:defRPr>
            </a:pPr>
            <a:br>
              <a:rPr sz="1900" dirty="0"/>
            </a:br>
            <a:endParaRPr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F8544-E16F-8D2B-1944-FD261F7A8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7" y="8709"/>
            <a:ext cx="554784" cy="5060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9247-7385-774A-15DF-F2CF29A5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3D1418-AAA1-83D5-31F8-6D0AA409D19E}"/>
              </a:ext>
            </a:extLst>
          </p:cNvPr>
          <p:cNvSpPr txBox="1"/>
          <p:nvPr/>
        </p:nvSpPr>
        <p:spPr>
          <a:xfrm>
            <a:off x="476859" y="0"/>
            <a:ext cx="8046241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sz="2800" dirty="0"/>
              <a:t>TOURIST – Seamless Bali Experience – Powered by AI</a:t>
            </a:r>
            <a:endParaRPr lang="es-ES" sz="2800" dirty="0"/>
          </a:p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lang="en-US" sz="2500" dirty="0"/>
              <a:t>Marketing &amp; Growth Drivers</a:t>
            </a:r>
            <a:endParaRPr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0C0EB-8478-B4C5-6A0A-20EC579D3A13}"/>
              </a:ext>
            </a:extLst>
          </p:cNvPr>
          <p:cNvSpPr txBox="1"/>
          <p:nvPr/>
        </p:nvSpPr>
        <p:spPr>
          <a:xfrm>
            <a:off x="61089" y="1075653"/>
            <a:ext cx="9256445" cy="77836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en-US" sz="2400" b="1" dirty="0"/>
              <a:t>   Pricing Benchmarks – Hospitality SaaS in SE Asia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dirty="0">
                <a:solidFill>
                  <a:srgbClr val="000000"/>
                </a:solidFill>
              </a:rPr>
              <a:t>Basic booking/channel tools: $10–25/month → commoditized, limited value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dirty="0">
                <a:solidFill>
                  <a:srgbClr val="000000"/>
                </a:solidFill>
              </a:rPr>
              <a:t> Hospitality SaaS platforms (Cloudbeds, Guesty, Lodgify, etc.): $40 – 90/month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dirty="0">
                <a:solidFill>
                  <a:srgbClr val="000000"/>
                </a:solidFill>
              </a:rPr>
              <a:t>AI concierge / premium automation SaaS: $100–200/month (targeting mid-sized hotels)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dirty="0"/>
              <a:t>Basic booking/channel tools: $10–25/month → commoditized, limited value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dirty="0"/>
              <a:t>Hospitality SaaS platforms (Cloudbeds, Guesty, Lodgify, etc.): $40 – 90/month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dirty="0"/>
              <a:t>AI concierge / premium automation SaaS: $100 – 200/month (targeting mid-sized hotels)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endParaRPr lang="en-US" sz="1900" dirty="0"/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lang="en-US" sz="2400" b="1" dirty="0"/>
              <a:t>    Pricing Strategy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dirty="0">
                <a:solidFill>
                  <a:prstClr val="black"/>
                </a:solidFill>
              </a:rPr>
              <a:t>S</a:t>
            </a:r>
            <a:r>
              <a:rPr lang="en-US" dirty="0"/>
              <a:t>aaS subscription from $35 – 45$ – /month, tiered by business size and annual discounts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dirty="0">
                <a:solidFill>
                  <a:prstClr val="black"/>
                </a:solidFill>
              </a:rPr>
              <a:t>Realistic ARPU expected at $35 – 45/month in 2026–2027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dirty="0">
                <a:solidFill>
                  <a:prstClr val="black"/>
                </a:solidFill>
              </a:rPr>
              <a:t>increasing to $45–55/month later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endParaRPr lang="en-US" dirty="0"/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1">
              <a:spcBef>
                <a:spcPct val="20000"/>
              </a:spcBef>
              <a:defRPr/>
            </a:pPr>
            <a:endParaRPr lang="en-US" sz="2400" dirty="0"/>
          </a:p>
          <a:p>
            <a:pPr lvl="1">
              <a:spcBef>
                <a:spcPct val="20000"/>
              </a:spcBef>
              <a:defRPr/>
            </a:pPr>
            <a:endParaRPr lang="en-US" sz="2400" dirty="0"/>
          </a:p>
          <a:p>
            <a:pPr lvl="1">
              <a:spcBef>
                <a:spcPct val="20000"/>
              </a:spcBef>
              <a:defRPr/>
            </a:pPr>
            <a:endParaRPr lang="en-US" sz="2400" dirty="0"/>
          </a:p>
          <a:p>
            <a:pPr>
              <a:defRPr sz="1400">
                <a:solidFill>
                  <a:srgbClr val="000000"/>
                </a:solidFill>
              </a:defRPr>
            </a:pPr>
            <a:endParaRPr lang="en-US" sz="2400" b="1" dirty="0"/>
          </a:p>
          <a:p>
            <a:pPr lvl="1">
              <a:spcBef>
                <a:spcPct val="20000"/>
              </a:spcBef>
              <a:defRPr/>
            </a:pPr>
            <a:endParaRPr lang="en-US" sz="2400" dirty="0"/>
          </a:p>
          <a:p>
            <a:pPr>
              <a:defRPr b="1"/>
            </a:pPr>
            <a:br>
              <a:rPr lang="en-US" sz="2400" dirty="0"/>
            </a:br>
            <a:endParaRPr lang="en-US" sz="21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18754-0CBD-E014-FEA5-4CAAFA34F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6" y="94591"/>
            <a:ext cx="554784" cy="5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07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A658-4DB6-097E-31D4-605997BB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93EDCC-DE3F-22D7-D139-2741773416A8}"/>
              </a:ext>
            </a:extLst>
          </p:cNvPr>
          <p:cNvSpPr txBox="1"/>
          <p:nvPr/>
        </p:nvSpPr>
        <p:spPr>
          <a:xfrm>
            <a:off x="548879" y="0"/>
            <a:ext cx="8046241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sz="2800" dirty="0"/>
              <a:t>TOURIST – Seamless Bali Experience – Powered by AI</a:t>
            </a:r>
            <a:endParaRPr lang="es-ES" sz="2800" dirty="0"/>
          </a:p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lang="en-US" sz="2500" dirty="0"/>
              <a:t>Key Cost Drivers</a:t>
            </a:r>
            <a:endParaRPr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5CD1C-816B-9CCB-D176-9BA743D054DC}"/>
              </a:ext>
            </a:extLst>
          </p:cNvPr>
          <p:cNvSpPr txBox="1"/>
          <p:nvPr/>
        </p:nvSpPr>
        <p:spPr>
          <a:xfrm>
            <a:off x="10824" y="923253"/>
            <a:ext cx="9225795" cy="33701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lang="en-US" sz="2400" b="1" dirty="0"/>
              <a:t>  Key Cost Drivers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sz="2400" dirty="0"/>
              <a:t>SW, storage &amp; infrastructure: tokens AI, Railway/Supabase, hosting</a:t>
            </a:r>
          </a:p>
          <a:p>
            <a:pPr lvl="1">
              <a:spcBef>
                <a:spcPct val="20000"/>
              </a:spcBef>
              <a:defRPr/>
            </a:pPr>
            <a:r>
              <a:rPr lang="en-US" sz="2400" dirty="0"/>
              <a:t>    monitoring aprox. ($50K/$350K)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sz="2400" dirty="0"/>
              <a:t>Team in Bali: 3 → 12 people scaling ($1,200 –2,000/month)</a:t>
            </a:r>
            <a:br>
              <a:rPr lang="en-US" sz="2400" dirty="0"/>
            </a:br>
            <a:r>
              <a:rPr lang="en-US" sz="2400" dirty="0"/>
              <a:t>Office space in Bali: $18K (2026) → $45K (2029)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sz="2400" dirty="0"/>
              <a:t>Marketing Costs (Bali-based): $50K (2026) → $150K (2029)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–"/>
              <a:defRPr/>
            </a:pPr>
            <a:r>
              <a:rPr lang="en-US" sz="2400" dirty="0"/>
              <a:t>2026 Lean Operating Costs $70,000 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endParaRPr lang="en-US" sz="21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45A79-8EF1-D55F-0911-BCF939BC2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0" y="70254"/>
            <a:ext cx="579470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6" y="182880"/>
            <a:ext cx="9122497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lang="en-US" sz="2500" dirty="0"/>
              <a:t>TOURIST – Seamless Bali Experience – Powered by AI</a:t>
            </a:r>
            <a:endParaRPr lang="es-ES" sz="2500" dirty="0"/>
          </a:p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sz="2000" dirty="0"/>
              <a:t>Financial Projection 2026</a:t>
            </a:r>
            <a:r>
              <a:rPr lang="es-ES" sz="2000" dirty="0"/>
              <a:t> </a:t>
            </a:r>
            <a:r>
              <a:rPr sz="2000" dirty="0"/>
              <a:t>–</a:t>
            </a:r>
            <a:r>
              <a:rPr lang="es-ES" sz="2000" dirty="0"/>
              <a:t> </a:t>
            </a:r>
            <a:r>
              <a:rPr sz="2000" dirty="0"/>
              <a:t>20</a:t>
            </a:r>
            <a:r>
              <a:rPr lang="es-ES" sz="2000" dirty="0"/>
              <a:t>30</a:t>
            </a:r>
            <a:r>
              <a:rPr sz="2000" dirty="0"/>
              <a:t> (Revenue vs Expenses vs EBITDA</a:t>
            </a:r>
            <a:r>
              <a:rPr lang="es-ES" sz="2000" dirty="0"/>
              <a:t> – ARPU $35 – 45$</a:t>
            </a:r>
            <a:r>
              <a:rPr sz="2000" dirty="0"/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87EABB-5760-1B3D-A183-277B2B8C7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920459"/>
              </p:ext>
            </p:extLst>
          </p:nvPr>
        </p:nvGraphicFramePr>
        <p:xfrm>
          <a:off x="239486" y="1204496"/>
          <a:ext cx="8621485" cy="1691502"/>
        </p:xfrm>
        <a:graphic>
          <a:graphicData uri="http://schemas.openxmlformats.org/drawingml/2006/table">
            <a:tbl>
              <a:tblPr/>
              <a:tblGrid>
                <a:gridCol w="636663">
                  <a:extLst>
                    <a:ext uri="{9D8B030D-6E8A-4147-A177-3AD203B41FA5}">
                      <a16:colId xmlns:a16="http://schemas.microsoft.com/office/drawing/2014/main" val="1704886230"/>
                    </a:ext>
                  </a:extLst>
                </a:gridCol>
                <a:gridCol w="1137708">
                  <a:extLst>
                    <a:ext uri="{9D8B030D-6E8A-4147-A177-3AD203B41FA5}">
                      <a16:colId xmlns:a16="http://schemas.microsoft.com/office/drawing/2014/main" val="23350308"/>
                    </a:ext>
                  </a:extLst>
                </a:gridCol>
                <a:gridCol w="1480457">
                  <a:extLst>
                    <a:ext uri="{9D8B030D-6E8A-4147-A177-3AD203B41FA5}">
                      <a16:colId xmlns:a16="http://schemas.microsoft.com/office/drawing/2014/main" val="340837271"/>
                    </a:ext>
                  </a:extLst>
                </a:gridCol>
                <a:gridCol w="1436915">
                  <a:extLst>
                    <a:ext uri="{9D8B030D-6E8A-4147-A177-3AD203B41FA5}">
                      <a16:colId xmlns:a16="http://schemas.microsoft.com/office/drawing/2014/main" val="2214226011"/>
                    </a:ext>
                  </a:extLst>
                </a:gridCol>
                <a:gridCol w="1210658">
                  <a:extLst>
                    <a:ext uri="{9D8B030D-6E8A-4147-A177-3AD203B41FA5}">
                      <a16:colId xmlns:a16="http://schemas.microsoft.com/office/drawing/2014/main" val="2129996582"/>
                    </a:ext>
                  </a:extLst>
                </a:gridCol>
                <a:gridCol w="1379438">
                  <a:extLst>
                    <a:ext uri="{9D8B030D-6E8A-4147-A177-3AD203B41FA5}">
                      <a16:colId xmlns:a16="http://schemas.microsoft.com/office/drawing/2014/main" val="76521737"/>
                    </a:ext>
                  </a:extLst>
                </a:gridCol>
                <a:gridCol w="1339646">
                  <a:extLst>
                    <a:ext uri="{9D8B030D-6E8A-4147-A177-3AD203B41FA5}">
                      <a16:colId xmlns:a16="http://schemas.microsoft.com/office/drawing/2014/main" val="758564978"/>
                    </a:ext>
                  </a:extLst>
                </a:gridCol>
              </a:tblGrid>
              <a:tr h="2506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7597" marR="7597" marT="75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Customers</a:t>
                      </a:r>
                    </a:p>
                  </a:txBody>
                  <a:tcPr marL="7597" marR="7597" marT="75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 ($35)</a:t>
                      </a:r>
                    </a:p>
                  </a:txBody>
                  <a:tcPr marL="7597" marR="7597" marT="75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 ($45)</a:t>
                      </a:r>
                    </a:p>
                  </a:txBody>
                  <a:tcPr marL="7597" marR="7597" marT="75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Expenses</a:t>
                      </a:r>
                    </a:p>
                  </a:txBody>
                  <a:tcPr marL="7597" marR="7597" marT="75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EBITDA ($35)</a:t>
                      </a:r>
                    </a:p>
                  </a:txBody>
                  <a:tcPr marL="7597" marR="7597" marT="75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EBITDA ($45)</a:t>
                      </a:r>
                    </a:p>
                  </a:txBody>
                  <a:tcPr marL="7597" marR="7597" marT="75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387735"/>
                  </a:ext>
                </a:extLst>
              </a:tr>
              <a:tr h="2506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70,140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90,180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20,180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968886"/>
                  </a:ext>
                </a:extLst>
              </a:tr>
              <a:tr h="2506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441,000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567,000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593371"/>
                  </a:ext>
                </a:extLst>
              </a:tr>
              <a:tr h="2506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1,750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735,000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945,000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495,000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13167"/>
                  </a:ext>
                </a:extLst>
              </a:tr>
              <a:tr h="2506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1,470,000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1,890,000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670,000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1,090,000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267347"/>
                  </a:ext>
                </a:extLst>
              </a:tr>
              <a:tr h="2506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5,250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2,205,000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2,835,000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1,400,000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805,000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1,435,000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993146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36FB4C6-C64E-4793-8035-95A41A3A0C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1805263"/>
              </p:ext>
            </p:extLst>
          </p:nvPr>
        </p:nvGraphicFramePr>
        <p:xfrm>
          <a:off x="2037806" y="3276600"/>
          <a:ext cx="4632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2B6E147-EE7D-E811-DB5D-0AC9C7687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6" y="177263"/>
            <a:ext cx="554784" cy="5060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2169" y="182880"/>
            <a:ext cx="719966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lang="en-US" sz="2500" dirty="0"/>
              <a:t>TOURIST – Seamless Bali Experience – Powered by AI</a:t>
            </a:r>
          </a:p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lang="en-US" sz="2500" dirty="0"/>
              <a:t>Marketing</a:t>
            </a:r>
            <a:r>
              <a:rPr sz="2500" dirty="0"/>
              <a:t> &amp; Growth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823" y="1143000"/>
            <a:ext cx="8857168" cy="3323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100" dirty="0"/>
              <a:t>• Kickbox approach: fast adoption with low-cost, high-impact acquisition tactics</a:t>
            </a:r>
            <a:br>
              <a:rPr sz="2100" dirty="0"/>
            </a:br>
            <a:r>
              <a:rPr sz="2100" dirty="0"/>
              <a:t>• Local Partnerships: villa associations, café collectives, tour operators </a:t>
            </a:r>
            <a:r>
              <a:rPr lang="es-ES" sz="2100" dirty="0"/>
              <a:t>and</a:t>
            </a:r>
            <a:r>
              <a:rPr sz="2100" dirty="0"/>
              <a:t> Bali </a:t>
            </a:r>
            <a:endParaRPr lang="es-ES" sz="21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GB" sz="2100" dirty="0"/>
              <a:t>   </a:t>
            </a:r>
            <a:r>
              <a:rPr sz="2100" dirty="0"/>
              <a:t>tourism boards</a:t>
            </a:r>
            <a:br>
              <a:rPr sz="2100" dirty="0"/>
            </a:br>
            <a:r>
              <a:rPr sz="2100" dirty="0"/>
              <a:t>• Promotions &amp; Incentives: free trials, referral discounts, bundled SaaS offers</a:t>
            </a:r>
            <a:br>
              <a:rPr sz="2100" dirty="0"/>
            </a:br>
            <a:r>
              <a:rPr sz="2100" dirty="0"/>
              <a:t>• Events &amp; Workshops: Ubud, Seminyak, Canggu</a:t>
            </a:r>
            <a:r>
              <a:rPr lang="es-ES" sz="2100" dirty="0"/>
              <a:t>, Lombok and </a:t>
            </a:r>
            <a:r>
              <a:rPr sz="2100" dirty="0"/>
              <a:t>on-site training </a:t>
            </a:r>
            <a:endParaRPr lang="es-ES" sz="21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GB" sz="2100" dirty="0"/>
              <a:t>    f</a:t>
            </a:r>
            <a:r>
              <a:rPr sz="2100" dirty="0"/>
              <a:t>or business owners</a:t>
            </a:r>
            <a:br>
              <a:rPr sz="2100" dirty="0"/>
            </a:br>
            <a:r>
              <a:rPr sz="2100" dirty="0"/>
              <a:t>• Digital Campaigns: targeted ads &amp; social media highlighting</a:t>
            </a:r>
            <a:r>
              <a:rPr lang="es-ES" sz="2100" dirty="0"/>
              <a:t> AI</a:t>
            </a:r>
            <a:br>
              <a:rPr sz="2100" dirty="0"/>
            </a:br>
            <a:r>
              <a:rPr sz="2100" dirty="0"/>
              <a:t>• Brand Positioning: become the reference SaaS brand for Bali’s tourism </a:t>
            </a:r>
            <a:endParaRPr lang="es-ES" sz="21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GB" sz="2100" dirty="0"/>
              <a:t>  </a:t>
            </a:r>
            <a:r>
              <a:rPr sz="2100" dirty="0"/>
              <a:t>ecosystem</a:t>
            </a:r>
            <a:br>
              <a:rPr sz="2100" dirty="0"/>
            </a:b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68546-438F-CD80-D8BF-C2359221B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23" y="214841"/>
            <a:ext cx="554784" cy="506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1099</Words>
  <Application>Microsoft Office PowerPoint</Application>
  <PresentationFormat>On-screen Show (4:3)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MY HOST Bizmate BALI – Tourist APP SaaS Infrastructure Problem → Solution</vt:lpstr>
      <vt:lpstr>MY HOT Bizmante BALI – Tourist APP SaaS Infrastructure Competitive Advantage</vt:lpstr>
      <vt:lpstr>PowerPoint Presentation</vt:lpstr>
      <vt:lpstr>PowerPoint Presentation</vt:lpstr>
      <vt:lpstr>MY HOST Bizmate BALI – Tourist APP SaaS Infrastructure 4-Month Delivery Roadmap (Sep–Dec 2025)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jose carrallo</dc:creator>
  <cp:keywords/>
  <dc:description>generated using python-pptx</dc:description>
  <cp:lastModifiedBy>JOSE CARRALLO DE LA FUENTE</cp:lastModifiedBy>
  <cp:revision>10</cp:revision>
  <dcterms:created xsi:type="dcterms:W3CDTF">2013-01-27T09:14:16Z</dcterms:created>
  <dcterms:modified xsi:type="dcterms:W3CDTF">2025-12-09T12:46:18Z</dcterms:modified>
  <cp:category/>
</cp:coreProperties>
</file>